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5669280" cy="1463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1C2320"/>
                </a:solidFill>
                <a:latin typeface="Aptos Display"/>
              </a:rPr>
              <a:t>Hagedissen
herkennen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42062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5B6560"/>
                </a:solidFill>
                <a:latin typeface="Aptos"/>
              </a:rPr>
              <a:t>Deep Learning Challenge - presentatie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52928"/>
            <a:ext cx="2514600" cy="347472"/>
          </a:xfrm>
          <a:prstGeom prst="roundRect">
            <a:avLst/>
          </a:prstGeom>
          <a:solidFill>
            <a:srgbClr val="2A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EfficientNetV2S ? fine-tuning ? 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25603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A744C"/>
                </a:solidFill>
                <a:latin typeface="Aptos Display"/>
              </a:rPr>
              <a:t>0.8206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4608"/>
            <a:ext cx="25603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560"/>
                </a:solidFill>
                <a:latin typeface="Aptos"/>
              </a:rPr>
              <a:t>beste validatiescore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297680"/>
            <a:ext cx="14630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7C5837"/>
                </a:solidFill>
                <a:latin typeface="Aptos Display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864608"/>
            <a:ext cx="14630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560"/>
                </a:solidFill>
                <a:latin typeface="Aptos"/>
              </a:rPr>
              <a:t>hagedissoorten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297680"/>
            <a:ext cx="21945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A744C"/>
                </a:solidFill>
                <a:latin typeface="Aptos Display"/>
              </a:rPr>
              <a:t>326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64608"/>
            <a:ext cx="21945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560"/>
                </a:solidFill>
                <a:latin typeface="Aptos"/>
              </a:rPr>
              <a:t>testbeelden voorspeld</a:t>
            </a:r>
          </a:p>
        </p:txBody>
      </p:sp>
      <p:pic>
        <p:nvPicPr>
          <p:cNvPr id="12" name="Picture 11" descr="cell_07_output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685800"/>
            <a:ext cx="4892040" cy="26784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560"/>
                </a:solidFill>
                <a:latin typeface="Aptos"/>
              </a:rPr>
              <a:t>DL Challenge presentatie ?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C2320"/>
                </a:solidFill>
                <a:latin typeface="Aptos Display"/>
              </a:rPr>
              <a:t>De opdracht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67665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5B6560"/>
                </a:solidFill>
                <a:latin typeface="Aptos"/>
              </a:rPr>
              <a:t>Hagedisfoto's indelen in 7 soorten en kunnen uitleggen waarom we deze aanpak gekozen hebben.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22860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A744C"/>
                </a:solidFill>
                <a:latin typeface="Aptos Display"/>
              </a:rPr>
              <a:t>1334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24328"/>
            <a:ext cx="2286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560"/>
                </a:solidFill>
                <a:latin typeface="Aptos"/>
              </a:rPr>
              <a:t>trainrijen voor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57400"/>
            <a:ext cx="25603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7C5837"/>
                </a:solidFill>
                <a:latin typeface="Aptos Display"/>
              </a:rPr>
              <a:t>1307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624328"/>
            <a:ext cx="25603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560"/>
                </a:solidFill>
                <a:latin typeface="Aptos"/>
              </a:rPr>
              <a:t>bruikbare beelden na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057400"/>
            <a:ext cx="25603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A744C"/>
                </a:solidFill>
                <a:latin typeface="Aptos Display"/>
              </a:rPr>
              <a:t>262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624328"/>
            <a:ext cx="25603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560"/>
                </a:solidFill>
                <a:latin typeface="Aptos"/>
              </a:rPr>
              <a:t>validatiebeelden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576072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C2320"/>
                </a:solidFill>
                <a:latin typeface="Aptos"/>
              </a:defRPr>
            </a:pPr>
            <a:r>
              <a:t>CSV-labels moesten gekoppeld worden aan echte afbeeldingspaden.</a:t>
            </a:r>
          </a:p>
          <a:p>
            <a:pPr>
              <a:spcAft>
                <a:spcPts val="1000"/>
              </a:spcAft>
              <a:defRPr sz="2100">
                <a:solidFill>
                  <a:srgbClr val="1C2320"/>
                </a:solidFill>
                <a:latin typeface="Aptos"/>
              </a:defRPr>
            </a:pPr>
            <a:r>
              <a:t>27 kapotte of fout gekoppelde rijen zijn verwijderd.</a:t>
            </a:r>
          </a:p>
          <a:p>
            <a:pPr>
              <a:spcAft>
                <a:spcPts val="1000"/>
              </a:spcAft>
              <a:defRPr sz="2100">
                <a:solidFill>
                  <a:srgbClr val="1C2320"/>
                </a:solidFill>
                <a:latin typeface="Aptos"/>
              </a:defRPr>
            </a:pPr>
            <a:r>
              <a:t>De validatieset bevat nog altijd elke soort.</a:t>
            </a:r>
          </a:p>
        </p:txBody>
      </p:sp>
      <p:pic>
        <p:nvPicPr>
          <p:cNvPr id="12" name="Picture 11" descr="cell_06_outpu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34440"/>
            <a:ext cx="3977639" cy="1586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560"/>
                </a:solidFill>
                <a:latin typeface="Aptos"/>
              </a:rPr>
              <a:t>DL Challenge presentatie ?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C2320"/>
                </a:solidFill>
                <a:latin typeface="Aptos Display"/>
              </a:rPr>
              <a:t>Wat we zien in de data</a:t>
            </a:r>
          </a:p>
        </p:txBody>
      </p:sp>
      <p:pic>
        <p:nvPicPr>
          <p:cNvPr id="4" name="Picture 3" descr="cell_07_output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577840" cy="3053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325880"/>
            <a:ext cx="42976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A744C"/>
                </a:solidFill>
                <a:latin typeface="Aptos Display"/>
              </a:rPr>
              <a:t>Sommige soorten lijken sterk op elkaar.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057400"/>
            <a:ext cx="4389120" cy="2194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C2320"/>
                </a:solidFill>
                <a:latin typeface="Aptos"/>
              </a:defRPr>
            </a:pPr>
            <a:r>
              <a:t>Kleur en textuur helpen, maar achtergrond en houding verschillen veel.</a:t>
            </a:r>
          </a:p>
          <a:p>
            <a:pPr>
              <a:spcAft>
                <a:spcPts val="1000"/>
              </a:spcAft>
              <a:defRPr sz="2100">
                <a:solidFill>
                  <a:srgbClr val="1C2320"/>
                </a:solidFill>
                <a:latin typeface="Aptos"/>
              </a:defRPr>
            </a:pPr>
            <a:r>
              <a:t>Green_anole is de kleinste klasse en krijgt daarom meer gewicht.</a:t>
            </a:r>
          </a:p>
          <a:p>
            <a:pPr>
              <a:spcAft>
                <a:spcPts val="1000"/>
              </a:spcAft>
              <a:defRPr sz="2100">
                <a:solidFill>
                  <a:srgbClr val="1C2320"/>
                </a:solidFill>
                <a:latin typeface="Aptos"/>
              </a:defRPr>
            </a:pPr>
            <a:r>
              <a:t>Een pretrained model is logischer dan alles vanaf nul leren.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560"/>
                </a:solidFill>
                <a:latin typeface="Aptos"/>
              </a:rPr>
              <a:t>DL Challenge presentatie ?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0292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C2320"/>
                </a:solidFill>
                <a:latin typeface="Aptos Display"/>
              </a:rPr>
              <a:t>Aanpak van het model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325880"/>
            <a:ext cx="438912" cy="438912"/>
          </a:xfrm>
          <a:prstGeom prst="ellipse">
            <a:avLst/>
          </a:prstGeom>
          <a:solidFill>
            <a:srgbClr val="2A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07592"/>
            <a:ext cx="3108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C2320"/>
                </a:solidFill>
                <a:latin typeface="Aptos"/>
              </a:rPr>
              <a:t>Eigen CNN als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55064"/>
            <a:ext cx="7132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5B6560"/>
                </a:solidFill>
                <a:latin typeface="Aptos"/>
              </a:rPr>
              <a:t>Toont de basis uit de les: convolution, pooling, dropout en GAP.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441448"/>
            <a:ext cx="438912" cy="438912"/>
          </a:xfrm>
          <a:prstGeom prst="ellipse">
            <a:avLst/>
          </a:prstGeom>
          <a:solidFill>
            <a:srgbClr val="2A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23160"/>
            <a:ext cx="3108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C2320"/>
                </a:solidFill>
                <a:latin typeface="Aptos"/>
              </a:rPr>
              <a:t>Transfer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70632"/>
            <a:ext cx="7132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5B6560"/>
                </a:solidFill>
                <a:latin typeface="Aptos"/>
              </a:rPr>
              <a:t>EfficientNetV2S heeft al algemene beeldkennis.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57015"/>
            <a:ext cx="438912" cy="438912"/>
          </a:xfrm>
          <a:prstGeom prst="ellipse">
            <a:avLst/>
          </a:prstGeom>
          <a:solidFill>
            <a:srgbClr val="2A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38727"/>
            <a:ext cx="3108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C2320"/>
                </a:solidFill>
                <a:latin typeface="Aptos"/>
              </a:rPr>
              <a:t>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886200"/>
            <a:ext cx="7132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5B6560"/>
                </a:solidFill>
                <a:latin typeface="Aptos"/>
              </a:rPr>
              <a:t>Het model past zich verder aan aan onze hagedisbeelden.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72584"/>
            <a:ext cx="438912" cy="438912"/>
          </a:xfrm>
          <a:prstGeom prst="ellipse">
            <a:avLst/>
          </a:prstGeom>
          <a:solidFill>
            <a:srgbClr val="2A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654296"/>
            <a:ext cx="3108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C2320"/>
                </a:solidFill>
                <a:latin typeface="Aptos"/>
              </a:rPr>
              <a:t>Submission met TTA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01768"/>
            <a:ext cx="7132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5B6560"/>
                </a:solidFill>
                <a:latin typeface="Aptos"/>
              </a:rPr>
              <a:t>Middelt meerdere voorspellingen voor stabielere labels.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554480"/>
            <a:ext cx="2377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7C5837"/>
                </a:solidFill>
                <a:latin typeface="Aptos"/>
              </a:rPr>
              <a:t>Belangrijke keuze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993392"/>
            <a:ext cx="246888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C2320"/>
                </a:solidFill>
                <a:latin typeface="Aptos"/>
              </a:rPr>
              <a:t>We kiezen niet automatisch de meest complexe optie. We kiezen wat het best scoort op validatie.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560"/>
                </a:solidFill>
                <a:latin typeface="Aptos"/>
              </a:rPr>
              <a:t>DL Challenge presentatie ?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0292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C2320"/>
                </a:solidFill>
                <a:latin typeface="Aptos Display"/>
              </a:rPr>
              <a:t>Training</a:t>
            </a:r>
          </a:p>
        </p:txBody>
      </p:sp>
      <p:pic>
        <p:nvPicPr>
          <p:cNvPr id="4" name="Picture 3" descr="cell_21_outpu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61872"/>
            <a:ext cx="6309360" cy="20712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7C5837"/>
                </a:solidFill>
                <a:latin typeface="Aptos Display"/>
              </a:rPr>
              <a:t>0.7939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984248"/>
            <a:ext cx="2926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560"/>
                </a:solidFill>
                <a:latin typeface="Aptos"/>
              </a:rPr>
              <a:t>validatiescore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060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A744C"/>
                </a:solidFill>
                <a:latin typeface="Aptos Display"/>
              </a:rPr>
              <a:t>0.8206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3172968"/>
            <a:ext cx="2926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560"/>
                </a:solidFill>
                <a:latin typeface="Aptos"/>
              </a:rPr>
              <a:t>validatiescore na 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4069080"/>
            <a:ext cx="338328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C2320"/>
                </a:solidFill>
                <a:latin typeface="Aptos"/>
              </a:rPr>
              <a:t>Fine-tuning verbeterde de validatiescore, dus nemen we dit mee in de finale aanpak.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560"/>
                </a:solidFill>
                <a:latin typeface="Aptos"/>
              </a:rPr>
              <a:t>DL Challenge presentatie ?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9436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C2320"/>
                </a:solidFill>
                <a:latin typeface="Aptos Display"/>
              </a:rPr>
              <a:t>Modelkeuze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B6560"/>
                </a:solidFill>
                <a:latin typeface="Aptos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463040"/>
            <a:ext cx="19202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B6560"/>
                </a:solidFill>
                <a:latin typeface="Aptos"/>
              </a:rPr>
              <a:t>Validatiescore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4630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B6560"/>
                </a:solidFill>
                <a:latin typeface="Aptos"/>
              </a:rPr>
              <a:t>Keuze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5029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C2320"/>
                </a:solidFill>
                <a:latin typeface="Aptos"/>
              </a:rPr>
              <a:t>scoreboost_finetuned.keras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057400"/>
            <a:ext cx="19202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A744C"/>
                </a:solidFill>
                <a:latin typeface="Aptos"/>
              </a:rPr>
              <a:t>0.8206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57400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2A744C"/>
                </a:solidFill>
                <a:latin typeface="Aptos"/>
              </a:rPr>
              <a:t>gekozen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87168"/>
            <a:ext cx="8778240" cy="9144"/>
          </a:xfrm>
          <a:prstGeom prst="rect">
            <a:avLst/>
          </a:prstGeom>
          <a:solidFill>
            <a:srgbClr val="D0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15768"/>
            <a:ext cx="5029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C2320"/>
                </a:solidFill>
                <a:latin typeface="Aptos"/>
              </a:rPr>
              <a:t>scoreboost_phase1.keras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715768"/>
            <a:ext cx="19202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C2320"/>
                </a:solidFill>
                <a:latin typeface="Aptos"/>
              </a:rPr>
              <a:t>0.7939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715768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C2320"/>
                </a:solidFill>
                <a:latin typeface="Aptos"/>
              </a:rPr>
              <a:t>niet gekozen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45535"/>
            <a:ext cx="8778240" cy="9144"/>
          </a:xfrm>
          <a:prstGeom prst="rect">
            <a:avLst/>
          </a:prstGeom>
          <a:solidFill>
            <a:srgbClr val="D0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74136"/>
            <a:ext cx="5029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C2320"/>
                </a:solidFill>
                <a:latin typeface="Aptos"/>
              </a:rPr>
              <a:t>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374136"/>
            <a:ext cx="19202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C2320"/>
                </a:solidFill>
                <a:latin typeface="Aptos"/>
              </a:rPr>
              <a:t>0.8053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374136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C2320"/>
                </a:solidFill>
                <a:latin typeface="Aptos"/>
              </a:rPr>
              <a:t>niet gekozen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803904"/>
            <a:ext cx="8778240" cy="9144"/>
          </a:xfrm>
          <a:prstGeom prst="rect">
            <a:avLst/>
          </a:prstGeom>
          <a:solidFill>
            <a:srgbClr val="D0D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06240"/>
            <a:ext cx="25603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7C5837"/>
                </a:solidFill>
                <a:latin typeface="Aptos"/>
              </a:rPr>
              <a:t>Waarom dit belangrijk 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7955279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C2320"/>
                </a:solidFill>
                <a:latin typeface="Aptos"/>
              </a:rPr>
              <a:t>Het ensemble klonk sterker, maar scoorde slechter dan het beste losse model. Daarom volgen we de cijfers.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560"/>
                </a:solidFill>
                <a:latin typeface="Aptos"/>
              </a:rPr>
              <a:t>DL Challenge presentatie ?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6400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C2320"/>
                </a:solidFill>
                <a:latin typeface="Aptos Display"/>
              </a:rPr>
              <a:t>Waar het model nog moeite mee heeft</a:t>
            </a:r>
          </a:p>
        </p:txBody>
      </p:sp>
      <p:pic>
        <p:nvPicPr>
          <p:cNvPr id="4" name="Picture 3" descr="cell_24_outpu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575477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298448"/>
            <a:ext cx="33832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A744C"/>
                </a:solidFill>
                <a:latin typeface="Aptos"/>
              </a:rPr>
              <a:t>Belangrijkste inzicht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874519"/>
            <a:ext cx="4297680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C2320"/>
                </a:solidFill>
                <a:latin typeface="Aptos"/>
              </a:defRPr>
            </a:pPr>
            <a:r>
              <a:t>De totale validatiescore is ongeveer 0.82.</a:t>
            </a:r>
          </a:p>
          <a:p>
            <a:pPr>
              <a:spcAft>
                <a:spcPts val="1000"/>
              </a:spcAft>
              <a:defRPr sz="1900">
                <a:solidFill>
                  <a:srgbClr val="1C2320"/>
                </a:solidFill>
                <a:latin typeface="Aptos"/>
              </a:defRPr>
            </a:pPr>
            <a:r>
              <a:t>Desert_iguana wordt het best herkend.</a:t>
            </a:r>
          </a:p>
          <a:p>
            <a:pPr>
              <a:spcAft>
                <a:spcPts val="1000"/>
              </a:spcAft>
              <a:defRPr sz="1900">
                <a:solidFill>
                  <a:srgbClr val="1C2320"/>
                </a:solidFill>
                <a:latin typeface="Aptos"/>
              </a:defRPr>
            </a:pPr>
            <a:r>
              <a:t>Green_anole blijft moeilijker, waarschijnlijk door subtiele verschillen en minder voorbeelden.</a:t>
            </a:r>
          </a:p>
          <a:p>
            <a:pPr>
              <a:spcAft>
                <a:spcPts val="1000"/>
              </a:spcAft>
              <a:defRPr sz="1900">
                <a:solidFill>
                  <a:srgbClr val="1C2320"/>
                </a:solidFill>
                <a:latin typeface="Aptos"/>
              </a:defRPr>
            </a:pPr>
            <a:r>
              <a:t>Verbetering zit vooral in meer gerichte data en betere crops rond de hagedis.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560"/>
                </a:solidFill>
                <a:latin typeface="Aptos"/>
              </a:rPr>
              <a:t>DL Challenge presentatie ?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1323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C2320"/>
                </a:solidFill>
                <a:latin typeface="Aptos Display"/>
              </a:rPr>
              <a:t>Conclusie voor de presentatie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80467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5B6560"/>
                </a:solidFill>
                <a:latin typeface="Aptos"/>
              </a:rPr>
              <a:t>Bij een kleine beelddataset zijn transfer learning, goede validatie en eerlijke modelkeuze belangrijk.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22860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A744C"/>
                </a:solidFill>
                <a:latin typeface="Aptos Display"/>
              </a:rPr>
              <a:t>1307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0128"/>
            <a:ext cx="2286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560"/>
                </a:solidFill>
                <a:latin typeface="Aptos"/>
              </a:rPr>
              <a:t>bruikbare trainbeelden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743200"/>
            <a:ext cx="22860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7C5837"/>
                </a:solidFill>
                <a:latin typeface="Aptos Display"/>
              </a:rPr>
              <a:t>0.8206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310128"/>
            <a:ext cx="2286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560"/>
                </a:solidFill>
                <a:latin typeface="Aptos"/>
              </a:rPr>
              <a:t>beste validatiescore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743200"/>
            <a:ext cx="22860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A744C"/>
                </a:solidFill>
                <a:latin typeface="Aptos Display"/>
              </a:rPr>
              <a:t>TTA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3310128"/>
            <a:ext cx="22860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560"/>
                </a:solidFill>
                <a:latin typeface="Aptos"/>
              </a:rPr>
              <a:t>finale voorspelstrategie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731520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C2320"/>
                </a:solidFill>
                <a:latin typeface="Aptos"/>
              </a:defRPr>
            </a:pPr>
            <a:r>
              <a:t>Eigen CNN zit erin voor de opdracht en als baseline.</a:t>
            </a:r>
          </a:p>
          <a:p>
            <a:pPr>
              <a:spcAft>
                <a:spcPts val="1000"/>
              </a:spcAft>
              <a:defRPr sz="2100">
                <a:solidFill>
                  <a:srgbClr val="1C2320"/>
                </a:solidFill>
                <a:latin typeface="Aptos"/>
              </a:defRPr>
            </a:pPr>
            <a:r>
              <a:t>EfficientNetV2S met fine-tuning geeft de beste validatiescore.</a:t>
            </a:r>
          </a:p>
          <a:p>
            <a:pPr>
              <a:spcAft>
                <a:spcPts val="1000"/>
              </a:spcAft>
              <a:defRPr sz="2100">
                <a:solidFill>
                  <a:srgbClr val="1C2320"/>
                </a:solidFill>
                <a:latin typeface="Aptos"/>
              </a:defRPr>
            </a:pPr>
            <a:r>
              <a:t>De finale submission gebruikt het beste losse model, niet het zwakkere ensemble.</a:t>
            </a:r>
          </a:p>
          <a:p>
            <a:pPr>
              <a:spcAft>
                <a:spcPts val="1000"/>
              </a:spcAft>
              <a:defRPr sz="2100">
                <a:solidFill>
                  <a:srgbClr val="1C2320"/>
                </a:solidFill>
                <a:latin typeface="Aptos"/>
              </a:defRPr>
            </a:pPr>
            <a:r>
              <a:t>De resterende fouten zijn logisch en tonen wat beter 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446520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560"/>
                </a:solidFill>
                <a:latin typeface="Aptos"/>
              </a:rPr>
              <a:t>DL Challenge presentatie ?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